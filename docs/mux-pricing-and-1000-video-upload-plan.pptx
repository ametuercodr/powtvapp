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33278dc8dd4f14" /><Relationship Type="http://schemas.openxmlformats.org/officeDocument/2006/relationships/extended-properties" Target="/docProps/app.xml" Id="R294bec61e13c44f9" /><Relationship Type="http://schemas.openxmlformats.org/officeDocument/2006/relationships/officeDocument" Target="/ppt/presentation.xml" Id="Rce3315244cc742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138d188d8c4785"/>
  </p:sldMasterIdLst>
  <p:notesMasterIdLst>
    <p:notesMasterId xmlns:r="http://schemas.openxmlformats.org/officeDocument/2006/relationships" r:id="R5877a20d7eb24cea"/>
  </p:notesMasterIdLst>
  <p:sldIdLst>
    <p:sldId xmlns:r="http://schemas.openxmlformats.org/officeDocument/2006/relationships" id="256" r:id="R1e1fd84ad2ce4957"/>
    <p:sldId xmlns:r="http://schemas.openxmlformats.org/officeDocument/2006/relationships" id="257" r:id="R2b704994a4e84f68"/>
    <p:sldId xmlns:r="http://schemas.openxmlformats.org/officeDocument/2006/relationships" id="258" r:id="Rad9d66f66ec04cdb"/>
    <p:sldId xmlns:r="http://schemas.openxmlformats.org/officeDocument/2006/relationships" id="259" r:id="R58826765b96449b0"/>
    <p:sldId xmlns:r="http://schemas.openxmlformats.org/officeDocument/2006/relationships" id="260" r:id="R611a2b8935ce4691"/>
    <p:sldId xmlns:r="http://schemas.openxmlformats.org/officeDocument/2006/relationships" id="261" r:id="Rf06c549de224498a"/>
    <p:sldId xmlns:r="http://schemas.openxmlformats.org/officeDocument/2006/relationships" id="262" r:id="R70cafcbda6274365"/>
    <p:sldId xmlns:r="http://schemas.openxmlformats.org/officeDocument/2006/relationships" id="263" r:id="Ra0a7a6349c724b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3818e600904383" /><Relationship Type="http://schemas.openxmlformats.org/officeDocument/2006/relationships/slideMaster" Target="/ppt/slideMasters/slideMaster1.xml" Id="R20138d188d8c4785" /><Relationship Type="http://schemas.openxmlformats.org/officeDocument/2006/relationships/notesMaster" Target="/ppt/notesMasters/notesMaster1.xml" Id="R5877a20d7eb24cea" /><Relationship Type="http://schemas.openxmlformats.org/officeDocument/2006/relationships/presProps" Target="/ppt/presProps.xml" Id="Rcdf201dc47354749" /><Relationship Type="http://schemas.openxmlformats.org/officeDocument/2006/relationships/tableStyles" Target="/ppt/tableStyles.xml" Id="Rad574d6beb644dc4" /><Relationship Type="http://schemas.openxmlformats.org/officeDocument/2006/relationships/slide" Target="/ppt/slides/slide1.xml" Id="R1e1fd84ad2ce4957" /><Relationship Type="http://schemas.openxmlformats.org/officeDocument/2006/relationships/slide" Target="/ppt/slides/slide2.xml" Id="R2b704994a4e84f68" /><Relationship Type="http://schemas.openxmlformats.org/officeDocument/2006/relationships/slide" Target="/ppt/slides/slide3.xml" Id="Rad9d66f66ec04cdb" /><Relationship Type="http://schemas.openxmlformats.org/officeDocument/2006/relationships/slide" Target="/ppt/slides/slide4.xml" Id="R58826765b96449b0" /><Relationship Type="http://schemas.openxmlformats.org/officeDocument/2006/relationships/slide" Target="/ppt/slides/slide5.xml" Id="R611a2b8935ce4691" /><Relationship Type="http://schemas.openxmlformats.org/officeDocument/2006/relationships/slide" Target="/ppt/slides/slide6.xml" Id="Rf06c549de224498a" /><Relationship Type="http://schemas.openxmlformats.org/officeDocument/2006/relationships/slide" Target="/ppt/slides/slide7.xml" Id="R70cafcbda6274365" /><Relationship Type="http://schemas.openxmlformats.org/officeDocument/2006/relationships/slide" Target="/ppt/slides/slide8.xml" Id="Ra0a7a6349c724b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8d047eab554c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be55ceedc1496a" /><Relationship Type="http://schemas.openxmlformats.org/officeDocument/2006/relationships/notesMaster" Target="/ppt/notesMasters/notesMaster1.xml" Id="R025f962ce7a74b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e120464f3c4caa" /><Relationship Type="http://schemas.openxmlformats.org/officeDocument/2006/relationships/notesMaster" Target="/ppt/notesMasters/notesMaster1.xml" Id="Rcb86ab7dced145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954be4baf84df8" /><Relationship Type="http://schemas.openxmlformats.org/officeDocument/2006/relationships/notesMaster" Target="/ppt/notesMasters/notesMaster1.xml" Id="R0b6473af712040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0dff98237b4c54" /><Relationship Type="http://schemas.openxmlformats.org/officeDocument/2006/relationships/notesMaster" Target="/ppt/notesMasters/notesMaster1.xml" Id="Ra0c6c6846eeb41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32bae78c254de6" /><Relationship Type="http://schemas.openxmlformats.org/officeDocument/2006/relationships/notesMaster" Target="/ppt/notesMasters/notesMaster1.xml" Id="R00726dffe5d049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8f233fd5b04d52" /><Relationship Type="http://schemas.openxmlformats.org/officeDocument/2006/relationships/notesMaster" Target="/ppt/notesMasters/notesMaster1.xml" Id="Rd6ba817ac02043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2ea661fb30440b" /><Relationship Type="http://schemas.openxmlformats.org/officeDocument/2006/relationships/notesMaster" Target="/ppt/notesMasters/notesMaster1.xml" Id="R1709ea2c771543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19cacc05ab4d8d" /><Relationship Type="http://schemas.openxmlformats.org/officeDocument/2006/relationships/notesMaster" Target="/ppt/notesMasters/notesMaster1.xml" Id="R9284015701c84c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brief;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Mux, “Understanding Mux Pricing,” https://www.mux.com/docs/pricing/overview (accessed Jul 25,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Mux, “Understanding Mux Pricing,” detailed rate tables, https://www.mux.com/docs/pricing/overview (accessed Jul 25, 2026).</a:t>
            </a:r>
          </a:p>
          <a:p xmlns:a="http://schemas.openxmlformats.org/drawingml/2006/main">
            <a:r>
              <a:t>- Mux, “Use different video quality levels,” https://www.mux.com/docs/guides/use-video-quality-levels (accessed Jul 25, 2026).</a:t>
            </a:r>
          </a:p>
          <a:p xmlns:a="http://schemas.openxmlformats.org/drawingml/2006/main">
            <a:r>
              <a:t>- Official-source caveat: Mux’s marketing pricing page lists a different Premium 720p input figure; this model uses the detailed documentation table and should be reconfirmed before purchase.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Mux, “Understanding Mux Pricing,” input, storage, delivery tables and 100K free delivery allowance, https://www.mux.com/docs/pricing/overview (accessed Jul 25, 2026).</a:t>
            </a:r>
          </a:p>
          <a:p xmlns:a="http://schemas.openxmlformats.org/drawingml/2006/main">
            <a:r>
              <a:t>- Scenario math is calculated from the cited tiered public rates. Assumptions are visible on-slide and are not claims about POWTV’s actual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Mux, “Understanding Mux Pricing,” quality positioning, delivery accounting, and Automatic Cold Storage discounts, https://www.mux.com/docs/pricing/overview (accessed Jul 25, 2026).</a:t>
            </a:r>
          </a:p>
          <a:p xmlns:a="http://schemas.openxmlformats.org/drawingml/2006/main">
            <a:r>
              <a:t>- Mux, “Use different video quality levels,” https://www.mux.com/docs/guides/use-video-quality-levels (accessed Jul 25, 2026).</a:t>
            </a:r>
          </a:p>
          <a:p xmlns:a="http://schemas.openxmlformats.org/drawingml/2006/main">
            <a:r>
              <a:t>- The Plus 1080p default and exception policy are recommendations for POWTV, not Mux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repo: /Users/gadgetguy/powtv-new/supabase/functions/mux-create-asset/index.ts (placeholder response), /Users/gadgetguy/powtv-new/supabase/functions/mux-webhook/index.ts, and /Users/gadgetguy/powtv-new/supabase/functions/process-queue-cron/index.ts (inspected Jul 25, 2026).</a:t>
            </a:r>
          </a:p>
          <a:p xmlns:a="http://schemas.openxmlformats.org/drawingml/2006/main">
            <a:r>
              <a:t>- Mux, “Upload files directly,” https://www.mux.com/docs/guides/upload-files-directly (accessed Jul 25, 2026).</a:t>
            </a:r>
          </a:p>
          <a:p xmlns:a="http://schemas.openxmlformats.org/drawingml/2006/main">
            <a:r>
              <a:t>- Mux, “Migrate from self-managed video infrastructure,” https://www.mux.com/docs/guides/migrate-from-self-managed (accessed Jul 25, 2026).</a:t>
            </a:r>
          </a:p>
          <a:p xmlns:a="http://schemas.openxmlformats.org/drawingml/2006/main">
            <a:r>
              <a:t>- Mux, “Listen for webhooks,” https://www.mux.com/docs/core/listen-for-webhooks (accessed Jul 25, 2026).</a:t>
            </a:r>
          </a:p>
          <a:p xmlns:a="http://schemas.openxmlformats.org/drawingml/2006/main">
            <a:r>
              <a:t>- Mux, “Verify webhook signatures,” https://www.mux.com/docs/core/verify-webhook-signatures (accessed Jul 25,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Mux, “Migrate from self-managed video infrastructure,” recommends a small sample, batches, background jobs, controlled concurrency, retries, and webhook-driven readiness: https://www.mux.com/docs/guides/migrate-from-self-managed (accessed Jul 25, 2026).</a:t>
            </a:r>
          </a:p>
          <a:p xmlns:a="http://schemas.openxmlformats.org/drawingml/2006/main">
            <a:r>
              <a:t>- Mux, “Make API requests,” rate-limit guidance: https://www.mux.com/docs/core/make-api-requests#api-rate-limits (accessed Jul 25, 2026).</a:t>
            </a:r>
          </a:p>
          <a:p xmlns:a="http://schemas.openxmlformats.org/drawingml/2006/main">
            <a:r>
              <a:t>- Mux, “Listen for webhooks,” https://www.mux.com/docs/core/listen-for-webhooks (accessed Jul 25, 2026).</a:t>
            </a:r>
          </a:p>
          <a:p xmlns:a="http://schemas.openxmlformats.org/drawingml/2006/main">
            <a:r>
              <a:t>- Pilot and batch sizes shown are proposed POWTV operating defaults, not Mux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Mux, “Understanding Mux Pricing,” public rate structure and cost levers, https://www.mux.com/docs/pricing/overview (accessed Jul 25, 2026).</a:t>
            </a:r>
          </a:p>
          <a:p xmlns:a="http://schemas.openxmlformats.org/drawingml/2006/main">
            <a:r>
              <a:t>- Decision defaults and next action are recommendations for POWTV.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34233b7ce844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1163e02c814133" /><Relationship Type="http://schemas.openxmlformats.org/officeDocument/2006/relationships/slideLayout" Target="/ppt/slideLayouts/slideLayout1.xml" Id="Rd8cec44fcf6745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cec44fcf6745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111867f844f72" /><Relationship Type="http://schemas.openxmlformats.org/officeDocument/2006/relationships/image" Target="/ppt/media/image.png" Id="Rcd5d344d55d44f17" /><Relationship Type="http://schemas.openxmlformats.org/officeDocument/2006/relationships/notesSlide" Target="/ppt/notesSlides/notesSlide1.xml" Id="Rb74bcf8bd45145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c1e6992794ac6" /><Relationship Type="http://schemas.openxmlformats.org/officeDocument/2006/relationships/image" Target="/ppt/media/image2.png" Id="Ref02f80a0c634b7c" /><Relationship Type="http://schemas.openxmlformats.org/officeDocument/2006/relationships/notesSlide" Target="/ppt/notesSlides/notesSlide2.xml" Id="R2d611339988546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b560269ce43e5" /><Relationship Type="http://schemas.openxmlformats.org/officeDocument/2006/relationships/image" Target="/ppt/media/image3.png" Id="R3a144c70899b47c8" /><Relationship Type="http://schemas.openxmlformats.org/officeDocument/2006/relationships/notesSlide" Target="/ppt/notesSlides/notesSlide3.xml" Id="Rd8b128b7669546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c6be34be54a1f" /><Relationship Type="http://schemas.openxmlformats.org/officeDocument/2006/relationships/image" Target="/ppt/media/image4.png" Id="R236264e49368415e" /><Relationship Type="http://schemas.openxmlformats.org/officeDocument/2006/relationships/chart" Target="/ppt/slides/charts/chart1.xml" Id="R0f382edb09544369" /><Relationship Type="http://schemas.openxmlformats.org/officeDocument/2006/relationships/notesSlide" Target="/ppt/notesSlides/notesSlide4.xml" Id="Rcfc701f8d50246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98b3dbcd44b1e" /><Relationship Type="http://schemas.openxmlformats.org/officeDocument/2006/relationships/image" Target="/ppt/media/image5.png" Id="Re368e5ba98a8434d" /><Relationship Type="http://schemas.openxmlformats.org/officeDocument/2006/relationships/notesSlide" Target="/ppt/notesSlides/notesSlide5.xml" Id="Rd7609bb980a24c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220bf284d4d02" /><Relationship Type="http://schemas.openxmlformats.org/officeDocument/2006/relationships/image" Target="/ppt/media/image6.png" Id="Re0cab412e57940ad" /><Relationship Type="http://schemas.openxmlformats.org/officeDocument/2006/relationships/notesSlide" Target="/ppt/notesSlides/notesSlide6.xml" Id="R44654ed89e3d48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c12184f2a4b87" /><Relationship Type="http://schemas.openxmlformats.org/officeDocument/2006/relationships/image" Target="/ppt/media/image7.png" Id="R3d9e37cb73684058" /><Relationship Type="http://schemas.openxmlformats.org/officeDocument/2006/relationships/notesSlide" Target="/ppt/notesSlides/notesSlide7.xml" Id="R2d77de6423fb4a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5597130b34898" /><Relationship Type="http://schemas.openxmlformats.org/officeDocument/2006/relationships/image" Target="/ppt/media/image8.png" Id="R93fddeb6b0af459c" /><Relationship Type="http://schemas.openxmlformats.org/officeDocument/2006/relationships/notesSlide" Target="/ppt/notesSlides/notesSlide8.xml" Id="Re2321625a9104dd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Storage + delivery per month</c:v>
          </c:tx>
          <c:spPr>
            <a:solidFill xmlns:a="http://schemas.openxmlformats.org/drawingml/2006/main">
              <a:srgbClr val="F2B50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9D9D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2B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11111"/>
              </a:solidFill>
            </c:spPr>
          </c:dPt>
          <c:cat>
            <c:strLit>
              <c:ptCount val="3"/>
              <c:pt idx="0">
                <c:v>Lean archive</c:v>
              </c:pt>
              <c:pt idx="1">
                <c:v>Recommended</c:v>
              </c:pt>
              <c:pt idx="2">
                <c:v>Premium reach</c:v>
              </c:pt>
            </c:strLit>
          </c:cat>
          <c:val>
            <c:numLit>
              <c:formatCode>$#,##0</c:formatCode>
              <c:ptCount val="3"/>
              <c:pt idx="0">
                <c:v>72</c:v>
              </c:pt>
              <c:pt idx="1">
                <c:v>285</c:v>
              </c:pt>
              <c:pt idx="2">
                <c:v>1581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6E6"/>
              </a:solidFill>
              <a:prstDash val="solid"/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CDE7A-4FE7-4ADD-8250-97C41CF9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ADD8E-5FF5-494E-A906-D4C2966B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POWTV · VIDEO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7E844-CF73-4101-BA43-971A9CED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695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measured Mux migration</a:t>
            </a:r>
          </a:p>
          <a:p xmlns:a="http://schemas.openxmlformats.org/drawingml/2006/main">
            <a:pPr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for 1,000+ videos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2119A-5DD5-4AFC-A6C1-38D3B04E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Cost model, quality controls, and a staged ingest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2CE71-5E84-4C07-86EF-1379FA35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47800"/>
            <a:ext cx="3314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7E1B2-BA5A-4049-8F4E-677F60DD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812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1,000+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35E3C-465A-44CA-AA6C-C1D2346B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video files</a:t>
            </a:r>
          </a:p>
          <a:p xmlns:a="http://schemas.openxmlformats.org/drawingml/2006/main">
            <a:pPr algn="ctr"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planned in waves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3DC41-CDC6-4C7C-B1AC-A564F9E0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81000"/>
            <a:ext cx="22193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d344d55d44f17"/>
          <a:stretch xmlns:a="http://schemas.openxmlformats.org/drawingml/2006/main"/>
        </p:blipFill>
        <p:spPr>
          <a:xfrm xmlns:a="http://schemas.openxmlformats.org/drawingml/2006/main">
            <a:off x="9858470" y="457200"/>
            <a:ext cx="1647635" cy="590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2A0AE-14CA-4B4F-980A-FDB7066C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Planning model · July 2026</a:t>
            </a:r>
          </a:p>
        </p:txBody>
      </p:sp>
    </p:spTree>
    <p:extLst>
      <p:ext uri="{BB962C8B-B14F-4D97-AF65-F5344CB8AC3E}">
        <p14:creationId xmlns:p14="http://schemas.microsoft.com/office/powerpoint/2010/main" val="16383148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E3EBA2-B4DA-410D-8815-52949036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COST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D29A0-EEA7-421C-A92D-14A6C609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Mux bills three kinds of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F0EA0-E6CE-4C02-AFD4-C69C1EC0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6CB36-1CC2-4322-8DDA-5E3D9FBD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E7969-1540-4972-8AEF-FDEA4BF7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4097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2f80a0c634b7c"/>
          <a:stretch xmlns:a="http://schemas.openxmlformats.org/drawingml/2006/main"/>
        </p:blipFill>
        <p:spPr>
          <a:xfrm xmlns:a="http://schemas.openxmlformats.org/drawingml/2006/main">
            <a:off x="10595467" y="381000"/>
            <a:ext cx="983266" cy="3524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D3176-F2EE-4633-BC13-B91D7E2D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42349-725E-4ACF-9506-490E82EB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3F77E-2DDB-491B-84B2-E0325590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Encode once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BC82F-8978-40FE-97A2-1C78FCD5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Asset duration × input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895FE-A502-4EB9-9D5F-55ED2C93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114550"/>
            <a:ext cx="95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DF3C2-8E81-416E-94E4-503A03DE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0025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BC7F3-B3A4-4F2D-B14F-49E8BA87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05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B89B28-0A91-4AC2-B9F2-D96745E3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43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Keep monthly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9D0F04-EB86-4B2C-9A78-5387D925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766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Stored duration × monthly 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C557E-69B8-4E8B-ACE4-CFCDCB47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14550"/>
            <a:ext cx="95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A7860B-F60B-4F4C-82E3-4D3B9118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099E06-905B-45C7-98E9-614B9766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05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DELIVERY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65033-33D8-4B16-8241-D4F3275E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Stream monthly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3FBFD9-9FAF-49EE-9425-5829AF36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Delivered seconds ÷ 60 × 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2AD0E-9ABB-4BBC-8BCE-D6205025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FBCAA9-237F-4F35-80A3-7DE6198B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first 100,000 delivered minutes each month are free. Buffered or preloaded seconds can still count as delivery.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385B38-9B4C-4B5C-BFB7-BEF89A59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Sources in notes · public list rates accessed Jul 25, 2026</a:t>
            </a:r>
          </a:p>
        </p:txBody>
      </p:sp>
    </p:spTree>
    <p:extLst>
      <p:ext uri="{BB962C8B-B14F-4D97-AF65-F5344CB8AC3E}">
        <p14:creationId xmlns:p14="http://schemas.microsoft.com/office/powerpoint/2010/main" val="1600332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119B2A-725D-4814-8057-9B78D2C3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CURRENT RATES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6EC22-4386-4F7F-A3B9-E6DC7F40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Minutes and quality—not file count—set the price curve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80733-7590-4B50-B6A2-0F7104FF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CA076-DA64-4E82-9E4E-CBA217B7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F863D-0561-4991-8CE4-33FF5C9A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4097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44c70899b47c8"/>
          <a:stretch xmlns:a="http://schemas.openxmlformats.org/drawingml/2006/main"/>
        </p:blipFill>
        <p:spPr>
          <a:xfrm xmlns:a="http://schemas.openxmlformats.org/drawingml/2006/main">
            <a:off x="10595467" y="381000"/>
            <a:ext cx="983266" cy="3524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E3C90-891F-4DD9-A316-2C411572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First public volume band · USD per minute · 720p / 1080p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2D59C-ACA6-4348-873A-2AE4A2B9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74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BASIC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18F67-F69A-402D-8E0E-08262F6F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Simple archive / UGC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4F5B9-7E8E-4098-A889-F81D9674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A8C2C-090F-4254-B121-C6989807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3857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FREE / FREE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9319D-63CF-4732-AE07-C0FC7939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Storage / month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1A788-4796-4ED9-A2CE-BA5BECE0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0532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$0.0024 / $0.0030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54183-B5FB-4BAC-8CFD-509B255B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Delivery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DD3D8-8D98-4337-9D8C-BE7FC93C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7207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$0.0008 / $0.0010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22155-3896-4371-9C92-31717453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526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58DFB8-214A-45C2-92AA-C83F1B17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574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PLUS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46C22-777A-4C71-8C7F-D9F5A94F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051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Professional / branded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56514A-3403-4B59-B85B-6C89D675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00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F9DE18-D32B-46F3-9DED-2FAA0013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83857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$0.0250 / $0.03125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137AFC-6723-4C75-A0EE-97B6F2D9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67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Storage / month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EA8A7-7493-48C0-B7A4-6E11AC81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0532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$0.0024 / $0.0030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F9A881-3A28-47B8-B1A3-BA15D4EE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33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Delivery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85347D-AE69-448D-8270-5838CCF0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17207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$0.0008 / $0.0010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56EC81-797A-42C1-8630-C0772516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1526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2F2887-7EF9-43E7-AD1E-F07057F9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574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PREMIUM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3D5851-95B1-4106-8BAC-42F6B9E5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051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Studio / cinematic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ACD8D0-6844-4C1E-803B-C5014A05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00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0DA3B5-6E40-444D-A76B-D33B6870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3857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$0.0375 / $0.046875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34A173-917A-4339-869E-E3051B6B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67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Storage / month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B787B1-A081-4467-AB62-30743108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0532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$0.0036 / $0.0045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577288-680A-4504-9124-39DD167F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33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Delivery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5351C6-D699-437D-91A4-95A8B69A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7207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$0.0012 / $0.0015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C95EB2-FEA7-468F-9987-6D793362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Sources in notes · first-band public list rates · verify at procurement</a:t>
            </a:r>
          </a:p>
        </p:txBody>
      </p:sp>
    </p:spTree>
    <p:extLst>
      <p:ext uri="{BB962C8B-B14F-4D97-AF65-F5344CB8AC3E}">
        <p14:creationId xmlns:p14="http://schemas.microsoft.com/office/powerpoint/2010/main" val="21357196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7E436C-9C0D-4208-90C4-FFA297D8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SCENARIO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5567E-2836-4652-9406-7C0FD12B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1,000 videos: ~$72–$1,581 per month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CF115-B543-403B-9612-4D8427E1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D1B26-4350-437E-BB0E-50A7FB6B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EF3BE-C877-4181-B7CC-BFFF3A97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4097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264e49368415e"/>
          <a:stretch xmlns:a="http://schemas.openxmlformats.org/drawingml/2006/main"/>
        </p:blipFill>
        <p:spPr>
          <a:xfrm xmlns:a="http://schemas.openxmlformats.org/drawingml/2006/main">
            <a:off x="10595467" y="381000"/>
            <a:ext cx="983266" cy="3524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400050" y="2019300"/>
          <a:ext xmlns:a="http://schemas.openxmlformats.org/drawingml/2006/main" cx="6572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382edb0954436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D7536-4171-4849-B827-176590E8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MODEL ASSUMPTIONS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CEDCD-F5A1-4721-A836-18DD643F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Lean archive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86D57-D309-411A-A79A-A4F6E148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28925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1,000 × 30 min</a:t>
            </a:r>
          </a:p>
          <a:p xmlns:a="http://schemas.openxmlformats.org/drawingml/2006/main">
            <a:pPr>
              <a:def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Basic · 720p</a:t>
            </a:r>
          </a:p>
          <a:p xmlns:a="http://schemas.openxmlformats.org/drawingml/2006/main">
            <a:pPr>
              <a:def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100K delivery min/mo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148A6-2509-41B9-9852-BAF15566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336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Input once</a:t>
            </a:r>
          </a:p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$0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679C1-7E41-4D50-A213-AFB286C7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57575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E74B2-EC17-4799-8CDE-897AC46F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Recommended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BFB4E-448F-475E-A5FC-FE98CD54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1,000 × 45 min</a:t>
            </a:r>
          </a:p>
          <a:p xmlns:a="http://schemas.openxmlformats.org/drawingml/2006/main">
            <a:pPr>
              <a:def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Plus · 1080p</a:t>
            </a:r>
          </a:p>
          <a:p xmlns:a="http://schemas.openxmlformats.org/drawingml/2006/main">
            <a:pPr>
              <a:def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250K delivery min/mo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E5DBE-D4C1-4C36-816F-5783CA87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5623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Input once</a:t>
            </a:r>
          </a:p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$1,305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FE973-1A79-447D-B019-47EAB1EA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86275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2F4F6-A7E0-4230-9A93-E7B24461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91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Premium reach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3666B-9CE8-433B-B4D9-70F5FBAC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86325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1,000 × 60 min</a:t>
            </a:r>
          </a:p>
          <a:p xmlns:a="http://schemas.openxmlformats.org/drawingml/2006/main">
            <a:pPr>
              <a:def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Premium · 1080p</a:t>
            </a:r>
          </a:p>
          <a:p xmlns:a="http://schemas.openxmlformats.org/drawingml/2006/main">
            <a:pPr>
              <a:def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1M delivery min/mo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5C9451-147A-4DD9-89DA-CD13E6EB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910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Input once</a:t>
            </a:r>
          </a:p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$2,590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63DFC5-7C6C-4852-9EF6-83F3A47B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9775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Illustrative assumptions—not POWTV inventory facts. Recurring = storage + delivery; excludes plan fees, credits, add-ons, and tax.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F0E26D-ED9C-4C6B-8C09-30BAC028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Sources in notes · pricing tables + scenario math</a:t>
            </a:r>
          </a:p>
        </p:txBody>
      </p:sp>
    </p:spTree>
    <p:extLst>
      <p:ext uri="{BB962C8B-B14F-4D97-AF65-F5344CB8AC3E}">
        <p14:creationId xmlns:p14="http://schemas.microsoft.com/office/powerpoint/2010/main" val="14685564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CE3C5A-AAFF-4CBA-A259-16748AEB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C7BFC-CD67-4B8F-8F76-DD34526B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Default to Plus 1080p—and earn exceptions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E2EC6-423D-49F4-B862-2A576DBE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7D334-60A6-43CB-A716-427540CD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66796-7957-468E-B0F7-EDE0A9A2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4097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8e5ba98a8434d"/>
          <a:stretch xmlns:a="http://schemas.openxmlformats.org/drawingml/2006/main"/>
        </p:blipFill>
        <p:spPr>
          <a:xfrm xmlns:a="http://schemas.openxmlformats.org/drawingml/2006/main">
            <a:off x="10595467" y="381000"/>
            <a:ext cx="983266" cy="3524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73623-5D6E-4162-A1E0-0880DD42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3619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PLUS</a:t>
            </a:r>
          </a:p>
          <a:p xmlns:a="http://schemas.openxmlformats.org/drawingml/2006/main">
            <a:pPr>
              <a:defRPr sz="39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1080p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88C92-68EF-419A-8C92-330BB267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90925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A strong default for sermons and branded programming, without paying Premium rates across the entire library.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B7691-F92C-4D35-85E2-51656EB3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1C59C-5FD3-404E-868D-79C4E15C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14925"/>
            <a:ext cx="3638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Use Basic for low-priority archive; Premium only where visual fidelity is visibly material.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4BAE7-DEBE-49AE-8BFE-B6F316BD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383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4F874-8E08-4E53-97C9-3C51D298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37A4B-6E8B-412C-9FB8-A33A49B5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955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Cap routine ingest at 1080p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364F3-73A2-45DB-B107-AD5AE56C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00325"/>
            <a:ext cx="595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59E92-2E4A-4EF0-B524-4E0ABAD6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03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07350-8916-4151-B25E-E86DC377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003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Let Automatic Cold Storage discount idle assets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4EFD3-BFA8-4A93-AE2D-45882C62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05175"/>
            <a:ext cx="595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222E9-E278-4FBF-9A94-AFBD45D7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052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CDD68-C771-4A19-AF63-A40660BE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052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Avoid aggressive preload; delivered buffer still bills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C1955C-97B5-4D9A-B07D-0E40BF20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10025"/>
            <a:ext cx="595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2C4E8B-68C7-4B81-B292-48A9217A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1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F04DCD-61FD-4CB0-B3CF-C154D4D7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100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Tag quality and source metadata before migration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30AD2E-9845-474B-821A-D0B86C14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14875"/>
            <a:ext cx="595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4D63F6-D958-4CCD-9AB7-C0F2C315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149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1E11A2-4F06-4683-93CF-4440900B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9149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Set a monthly delivery alert and review top assets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6EE2DF-CD65-49F6-A752-1BAF8277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Sources in notes · public list rates accessed Jul 25, 2026</a:t>
            </a:r>
          </a:p>
        </p:txBody>
      </p:sp>
    </p:spTree>
    <p:extLst>
      <p:ext uri="{BB962C8B-B14F-4D97-AF65-F5344CB8AC3E}">
        <p14:creationId xmlns:p14="http://schemas.microsoft.com/office/powerpoint/2010/main" val="5493296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C19E11-660E-4AF3-A09E-A6FC0D83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BULK INGEST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314F5-E04F-4E3F-BC67-A43D26D1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event backbone exists; ingest is still a stub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8504C-0E87-47F7-B986-9201C20C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7089E-E12D-4805-9690-219012CD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C338A-4B42-4845-8129-13E9C8EF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4097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ab412e57940ad"/>
          <a:stretch xmlns:a="http://schemas.openxmlformats.org/drawingml/2006/main"/>
        </p:blipFill>
        <p:spPr>
          <a:xfrm xmlns:a="http://schemas.openxmlformats.org/drawingml/2006/main">
            <a:off x="10595467" y="381000"/>
            <a:ext cx="983266" cy="3524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6BD31-84D3-47F0-92E1-37285084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19275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237FE-BBED-4153-97A1-70F6BAC8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CURRENT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6068B-CB54-4368-8E49-CA2508C7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716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Present: Mux webhook processor + workflow queue cron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157C4-5965-43A6-96B3-81DB7C02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7167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Missing: production asset/direct-upload endpoint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335E6-2565-4E34-B7B2-E133F969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PROPOSED MIGRATION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DF67D-C30F-4E28-9149-0A1E4C10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E0AFC-4EE3-43FB-A0C0-0D1A0B9A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10BB0-B3ED-40E0-AB1B-E134029A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DF00C-D2A2-497B-8980-7B9D7FB2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052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C3AC3-41EA-44FE-88BC-2EF03389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19475"/>
            <a:ext cx="1952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8A9D5-6224-4736-A05E-D09C4DA8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Inventory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FF0CA-E040-40B1-B0FD-4771D48A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URL, duration,</a:t>
            </a:r>
          </a:p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quality, rights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8F0D1-ABC2-4BCE-AA5D-5FD73AB0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19475"/>
            <a:ext cx="1952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21FA6D-A6D0-4C87-A919-67C7AD8E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671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Queue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9749C4-0BD2-4E87-96D7-363D3FD5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148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One job per file</a:t>
            </a:r>
          </a:p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+ retries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2E8FAF-6D68-4AFC-BF0F-3E49C51B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19475"/>
            <a:ext cx="1952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523EAF-145E-4D8A-A0DF-D4884D55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671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Mux ingest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2374B0-5DF1-4184-8234-FB0980BE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148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Create Asset or</a:t>
            </a:r>
          </a:p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Direct Upload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891FF3-C866-4C89-9D80-EA2C81BD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19475"/>
            <a:ext cx="1952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74E7AA-8F42-4FCF-9E5B-8B98E527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671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Webhooks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7DB0E-C2DC-4187-A027-38B98F07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148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asset.ready /</a:t>
            </a:r>
          </a:p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asset.errored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670329-20F6-4E41-B883-CBF15665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19475"/>
            <a:ext cx="1952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34A13A-80DC-4AE0-8499-F03A81B4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671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POWTV 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CA7349-1A99-4F92-8CBB-83A38FC5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148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Asset + Playback ID</a:t>
            </a:r>
          </a:p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+ readiness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9B3662-C57B-41FB-8AC9-BB3C1CBA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Webhook handlers should verify signatures, return 2xx quickly, and be idempotent; do not poll asset status at scale.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554B86-3A35-4805-97C5-FD15E233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Sources in notes · repo + official Mux implementation guidance</a:t>
            </a:r>
          </a:p>
        </p:txBody>
      </p:sp>
    </p:spTree>
    <p:extLst>
      <p:ext uri="{BB962C8B-B14F-4D97-AF65-F5344CB8AC3E}">
        <p14:creationId xmlns:p14="http://schemas.microsoft.com/office/powerpoint/2010/main" val="324293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143902-E5BC-4CB9-8B76-7FFB4063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STAGED ROLLOUT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6F3B6-C0F5-4171-AA7E-01E98225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Pilot → batches → full library, with a gate at every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3B642-F646-4C93-A4E4-C83E53E6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F482C-32E9-4894-8C3E-A8C2E956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D6812-2589-40B1-B2F2-F9C5F588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4097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e37cb73684058"/>
          <a:stretch xmlns:a="http://schemas.openxmlformats.org/drawingml/2006/main"/>
        </p:blipFill>
        <p:spPr>
          <a:xfrm xmlns:a="http://schemas.openxmlformats.org/drawingml/2006/main">
            <a:off x="10595467" y="381000"/>
            <a:ext cx="983266" cy="3524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6A5B2-6BA6-4EA1-9553-5552576C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8F127-40DC-4180-B4C6-B6646E3E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908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899D9-1C00-4EA6-8B33-A1FE7140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71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1172D-F7FA-4F5D-B3ED-FBEF48BC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812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Inventory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CD08D-CBEA-4AEE-82A0-B50C23BF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Export source URLs,</a:t>
            </a:r>
          </a:p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duration, resolution,</a:t>
            </a:r>
          </a:p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rights, publish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B6381-7C9C-4840-BC23-853229A1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Gate: complete manifest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67300-AFEE-4A0C-BDEC-15F52678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1908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1F17C-D514-4705-8C8C-AF0E619B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33600"/>
            <a:ext cx="71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DD7FF-8C78-4C77-90ED-B1DC69EB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812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Pilot 20–50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EC492-2169-440B-8237-DD862165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909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Mix long / short,</a:t>
            </a:r>
          </a:p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720p / 1080p,</a:t>
            </a:r>
          </a:p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active / archive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AA005-5E81-4656-97E5-87910D34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10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Gate: playback + cost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3F6AB-90C8-484B-A6B1-CFD0BF6D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1908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8DFF8-C602-40F2-B9E7-569B6816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33600"/>
            <a:ext cx="71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AC200F-DD05-42C3-BB85-3559A9BF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812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Batches 100–200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181EF7-E52F-4E80-8B79-58CEE805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909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Controlled queue,</a:t>
            </a:r>
          </a:p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retry + reconcile,</a:t>
            </a:r>
          </a:p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spot-check metadata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9D1F4-9E46-4AA6-9ABC-277A3AB6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10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Gate: &lt;1% unresolved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BDA539-DD09-4820-8EC5-5AEBA126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1908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94EB2E-3801-4F4C-9B34-F96C20D1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33600"/>
            <a:ext cx="71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4215EA-61A6-425D-BF41-5E1E8DE1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81275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Scale the rest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363E3A-ACDA-4CF8-BBFD-6BE87193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909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Serve ready assets</a:t>
            </a:r>
          </a:p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as each wave lands;</a:t>
            </a:r>
          </a:p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retain rollback map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FD9572-B84F-4141-B723-6F846C4B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10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Gate: signed acceptance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E7E914-F4BC-4332-9EC1-59205915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BAE479-BFC7-4013-9EDE-FDD727D9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62625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Proposed batch sizes are operating defaults—not vendor limits. Tune concurrency against observed API limits, encode time, and failure rate.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0402E2-7E11-404A-820D-E780D51A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Sources in notes · rollout sizes are POWTV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9745093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6FD9F5-252A-4656-8ACF-05978978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48D4A-BA23-4AEB-BFBD-C02DDADA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Approve defaults; price the real inventory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FD29D-A48D-4DAB-B1D4-4EFBF337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997CB-1101-4AD4-8A05-DA224CE4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1DCA3-E824-4686-BB21-F1ECA106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4097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ddeb6b0af459c"/>
          <a:stretch xmlns:a="http://schemas.openxmlformats.org/drawingml/2006/main"/>
        </p:blipFill>
        <p:spPr>
          <a:xfrm xmlns:a="http://schemas.openxmlformats.org/drawingml/2006/main">
            <a:off x="10595467" y="381000"/>
            <a:ext cx="983266" cy="3524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00E78-A5E5-4538-A2C3-35AE3CFB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2882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FB9CE-9553-4AF8-82CD-D0EB7135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478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07C50-55FB-48CC-9F35-C7130B20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097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Plus 1080p by default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4F76F-02F5-47FC-9314-536FF77C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288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Basic for archive; Premium by exception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F8147-3DD0-4347-9DAE-14837C10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1098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86494-7DC2-4117-92D0-2DBDA2D9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DF9C4-3080-4CB7-A00A-439667A1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146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514EC-C610-4EFD-9CE5-745FF62A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765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Authorize a 20–50 video sample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C030F-440B-45C4-B949-D817F118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956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Include varied duration, resolution, and demand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A1920-82D8-4910-842F-196CEFAE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1098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32ED2-A8D6-4C2F-9BF0-3D72D113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6242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1208F-B10B-4BA6-B80C-38B31302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814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E831D-8AD3-4D86-9B2A-39AE2555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433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Set a monthly cost threshold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185780-1E28-4CB6-AD08-B15D22D7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624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Pause the next batch if the threshold is exceeded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C8D8C-3028-4B17-A111-4BFBE78D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391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908B3-818F-448C-96B4-E4F98A01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34025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B500"/>
                </a:solidFill>
                <a:latin typeface="Helvetica Neue"/>
                <a:ea typeface="Helvetica Neue"/>
                <a:cs typeface="Helvetica Neue"/>
              </a:rPr>
              <a:t>FIRST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5CE5A-7535-4FF3-A598-7639AA01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95925"/>
            <a:ext cx="919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Export the inventory manifest; rerun the model with actual duration, resolution, and expected viewing.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C9F2C6-D102-4A9F-8D53-DF2A5C05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Sources in notes · decision basis</a:t>
            </a:r>
          </a:p>
        </p:txBody>
      </p:sp>
    </p:spTree>
    <p:extLst>
      <p:ext uri="{BB962C8B-B14F-4D97-AF65-F5344CB8AC3E}">
        <p14:creationId xmlns:p14="http://schemas.microsoft.com/office/powerpoint/2010/main" val="1773159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2026-07-25T20:53:28.4110000Z</dcterms:created>
  <dcterms:modified xsi:type="dcterms:W3CDTF">2026-07-25T20:53:28.4110000Z</dcterms:modified>
</coreProperties>
</file>